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569950" cy="18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uk-UA" sz="2400" dirty="0"/>
              <a:t>Комплексний курсовий проєкт на тему:</a:t>
            </a:r>
            <a:br>
              <a:rPr lang="uk-UA" sz="2400" dirty="0"/>
            </a:br>
            <a:r>
              <a:rPr lang="uk" sz="2400" dirty="0"/>
              <a:t>Ігрове програмне забезпечення в жанрі </a:t>
            </a:r>
            <a:r>
              <a:rPr lang="en-US" sz="2400" dirty="0"/>
              <a:t>Shooter </a:t>
            </a:r>
            <a:r>
              <a:rPr lang="uk-UA" sz="2400" dirty="0"/>
              <a:t>на рушії </a:t>
            </a:r>
            <a:r>
              <a:rPr lang="es-CO" sz="2400" dirty="0"/>
              <a:t>Unity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635125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Білоножко А. В., ПЗПІ-23-1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  ст. </a:t>
            </a:r>
            <a:r>
              <a:rPr lang="uk-UA" dirty="0"/>
              <a:t>в</a:t>
            </a:r>
            <a:r>
              <a:rPr lang="uk" dirty="0"/>
              <a:t>икл., Олійник О.В.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03 червня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89000"/>
            <a:ext cx="8520600" cy="3690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>
                <a:latin typeface="Economica" panose="020B0604020202020204" charset="0"/>
              </a:rPr>
              <a:t>Створення гри в жанрі шутер з поглибленням механік стрільби</a:t>
            </a:r>
            <a:endParaRPr dirty="0">
              <a:latin typeface="Economica" panose="020B060402020202020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/>
              <a:t>Актуальність роботи: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ізометричні шутери стагнують орієнтуючись переважно на динаміці гри;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обмеженність існуючих підходів розробки ігор жанру шутер;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шаблонність боїв та низька мисленнєва залученість гравця в боях;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ru-RU"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706437"/>
            <a:ext cx="8520600" cy="3706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Аналог: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Synthetik</a:t>
            </a:r>
            <a:b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Переваги: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Висока динаміка гри;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Глибокий мікроменеджмент;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Недоліки: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highlight>
                  <a:srgbClr val="FFFFFF"/>
                </a:highlight>
              </a:rPr>
              <a:t>Акцентуація на додаткових, а не на базових механіках гри;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highlight>
                  <a:srgbClr val="FFFFFF"/>
                </a:highlight>
              </a:rPr>
              <a:t>Низька мисленнєва залученість гравця в бою;</a:t>
            </a: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Рішення: поєднання високої динаміки із поглибленими механіками стрільби</a:t>
            </a:r>
            <a:endParaRPr lang="uk-UA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45024"/>
            <a:ext cx="8520600" cy="3934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Розробка демо-версії ізометричного тактичного шутера на рушії Unity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О</a:t>
            </a: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чікувані результати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: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Механіки: вплив зон ураження, зміна зброї, стрільба, перезарядка, вибір зон ураження, конус розкиду;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Дизайн: мінімалістичний інтерфейс, графічний фідбек (конус розкиду та спалах ураженої зони);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Архітектура: модульна, слабкопов’язана, інтеграція власних запропонованих  алгоритмів для розрахунку попадання та стрільби.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682991"/>
            <a:ext cx="8520600" cy="3896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Ігровий рушій: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Unity 6;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Мова програмування: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C# (Visual Studio 2022);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Цільова платформа розробки: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Economica" panose="020B0604020202020204" charset="0"/>
              </a:rPr>
              <a:t>Windows 10/11.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0A3AA-E737-490A-304F-D621B6E6FD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018" r="25976"/>
          <a:stretch>
            <a:fillRect/>
          </a:stretch>
        </p:blipFill>
        <p:spPr>
          <a:xfrm>
            <a:off x="5638800" y="1457570"/>
            <a:ext cx="1531621" cy="1874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2F4C8D-9A9E-2BF9-102E-8629E7918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2841922"/>
            <a:ext cx="312420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180959"/>
            <a:ext cx="4067153" cy="33084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Об'єктно-орієнтована структура: </a:t>
            </a:r>
            <a:br>
              <a:rPr lang="uk-UA" dirty="0">
                <a:highlight>
                  <a:srgbClr val="FFFFFF"/>
                </a:highlight>
              </a:rPr>
            </a:br>
            <a:r>
              <a:rPr lang="uk-UA" dirty="0">
                <a:highlight>
                  <a:srgbClr val="FFFFFF"/>
                </a:highlight>
              </a:rPr>
              <a:t>Логічний поділ на ізольовані класи з чітко визначеними зонами відповідальності;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/>
              <a:t>Модуль гравця (Player system): </a:t>
            </a:r>
            <a:br>
              <a:rPr lang="uk-UA" dirty="0"/>
            </a:br>
            <a:r>
              <a:rPr lang="uk-UA" dirty="0"/>
              <a:t>Агрегує логіку пересування та ініціалізації вогню через клас Weapon.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/>
              <a:t>Диференційована система ушкоджень: </a:t>
            </a:r>
            <a:br>
              <a:rPr lang="uk-UA" dirty="0"/>
            </a:br>
            <a:r>
              <a:rPr lang="uk-UA" dirty="0"/>
              <a:t>Реалізована через зв'язку компонентів BodyPart (відповідає за локальні хітбокси та збереження damageMultiplier) та загального пулу життєдіяльності Health.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FB30A-4367-E54B-3E36-1542AE1BC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853" y="1180959"/>
            <a:ext cx="4541413" cy="3067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43700"/>
            <a:ext cx="8520600" cy="32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Ігровий рушій: Unity 6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highlight>
                  <a:srgbClr val="FFFFFF"/>
                </a:highlight>
              </a:rPr>
              <a:t>Використано для побудови 3D-сцен в ізометричній перспективі;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/>
              <a:t>Залучено низькорівневу підсистему обчислення колізій (Physics.Raycast).</a:t>
            </a:r>
            <a:endParaRPr lang="uk-UA" dirty="0">
              <a:highlight>
                <a:srgbClr val="FFFFFF"/>
              </a:highlight>
            </a:endParaRP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highlight>
                  <a:srgbClr val="FFFFFF"/>
                </a:highlight>
              </a:rPr>
              <a:t>Мова програмування: C# (MS Visual Studio 2022)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/>
              <a:t>Обрано як стандарт для розробки на Unity;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/>
              <a:t>Дозволила реалізувати принципи ООП для створення слабкопов'язаної архітектури.</a:t>
            </a:r>
          </a:p>
          <a:p>
            <a:pPr marL="0" indent="0">
              <a:spcBef>
                <a:spcPts val="1500"/>
              </a:spcBef>
              <a:buNone/>
            </a:pPr>
            <a:endParaRPr lang="uk-UA"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739262"/>
            <a:ext cx="8520600" cy="36202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Методи:</a:t>
            </a:r>
          </a:p>
          <a:p>
            <a:pPr marL="285750" indent="-285750"/>
            <a:r>
              <a:rPr lang="uk-UA" dirty="0">
                <a:latin typeface="Economica" panose="020B0604020202020204" charset="0"/>
              </a:rPr>
              <a:t>ООП для створення ізольованих, слабкопов’язаних ігрових модулів;</a:t>
            </a:r>
          </a:p>
          <a:p>
            <a:pPr marL="285750" indent="-285750"/>
            <a:r>
              <a:rPr lang="uk-UA" dirty="0">
                <a:latin typeface="Economica" panose="020B0604020202020204" charset="0"/>
              </a:rPr>
              <a:t>Дискретне щокадрове трасування сегментів польоту кулі;</a:t>
            </a:r>
            <a:endParaRPr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Послідовність:</a:t>
            </a:r>
          </a:p>
          <a:p>
            <a:pPr marL="285750" indent="-285750">
              <a:spcBef>
                <a:spcPts val="1200"/>
              </a:spcBef>
            </a:pPr>
            <a:r>
              <a:rPr lang="uk-UA" dirty="0">
                <a:latin typeface="Economica" panose="020B0604020202020204" charset="0"/>
              </a:rPr>
              <a:t>Ініціалізація та розрахунок конусу розкиду під час наведення на ворожих агентів;</a:t>
            </a:r>
          </a:p>
          <a:p>
            <a:pPr marL="285750" indent="-285750">
              <a:spcBef>
                <a:spcPts val="1200"/>
              </a:spcBef>
            </a:pPr>
            <a:r>
              <a:rPr lang="uk-UA" dirty="0">
                <a:latin typeface="Economica" panose="020B0604020202020204" charset="0"/>
              </a:rPr>
              <a:t>Генерація балістичного снаряду та перерахунок його параболічної траєкторії;</a:t>
            </a:r>
          </a:p>
          <a:p>
            <a:pPr marL="285750" indent="-285750">
              <a:spcBef>
                <a:spcPts val="1200"/>
              </a:spcBef>
            </a:pPr>
            <a:r>
              <a:rPr lang="uk-UA" dirty="0">
                <a:latin typeface="Economica" panose="020B0604020202020204" charset="0"/>
              </a:rPr>
              <a:t>Використання зважених таблиць для балансування ігрових елементів.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uk" dirty="0"/>
              <a:t>Технології:</a:t>
            </a:r>
          </a:p>
          <a:p>
            <a:pPr marL="285750" indent="-285750">
              <a:spcBef>
                <a:spcPts val="1200"/>
              </a:spcBef>
            </a:pPr>
            <a:r>
              <a:rPr lang="uk-UA" dirty="0"/>
              <a:t>Ігровий рушій Unity 6;</a:t>
            </a:r>
          </a:p>
          <a:p>
            <a:pPr marL="285750" indent="-285750">
              <a:spcBef>
                <a:spcPts val="1200"/>
              </a:spcBef>
            </a:pPr>
            <a:r>
              <a:rPr lang="uk-UA" dirty="0"/>
              <a:t>Мова програмування C# в середовищі MS Visual Studio 2022.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699" y="678302"/>
            <a:ext cx="4101551" cy="3900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Найцікавішою частиною розробки є візуалізація конусу розкиду.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Economica" panose="020B0604020202020204" charset="0"/>
              </a:rPr>
              <a:t>Він показує розріз конуса розкиду чим дозволяє зрозуміти межі польоту кулі, і дозволяє чітко зрозуміти яку частину тіла обрано для влучання, а також візуально допомагає визначити шанс влучання у ціль.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70AA2D-EB65-2825-0BBB-805E570B2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52"/>
          <a:stretch>
            <a:fillRect/>
          </a:stretch>
        </p:blipFill>
        <p:spPr bwMode="auto">
          <a:xfrm>
            <a:off x="4529225" y="675760"/>
            <a:ext cx="1920240" cy="201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27207C-E875-9550-4D6A-14FDC6A6C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8" r="34104"/>
          <a:stretch>
            <a:fillRect/>
          </a:stretch>
        </p:blipFill>
        <p:spPr bwMode="auto">
          <a:xfrm>
            <a:off x="6449465" y="675759"/>
            <a:ext cx="1920240" cy="201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718F53-057C-21F0-FE6E-86EA3B839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6" r="266"/>
          <a:stretch>
            <a:fillRect/>
          </a:stretch>
        </p:blipFill>
        <p:spPr bwMode="auto">
          <a:xfrm>
            <a:off x="5489344" y="2695694"/>
            <a:ext cx="1920240" cy="201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5618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/>
              <a:t>Інтерфейс набоїв та магазину поточної зброї:</a:t>
            </a:r>
          </a:p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/>
              <a:t>Інтерфейс поточного здоров’я:</a:t>
            </a:r>
          </a:p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/>
              <a:t>Інтерфейс конусу розкиду та лазерного прицілу:</a:t>
            </a: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1834C-E327-1D71-AE3A-3875B13B1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1138021"/>
            <a:ext cx="1324160" cy="1171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9C3C6-3143-6953-870B-9ED2301BA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2466876"/>
            <a:ext cx="1714739" cy="552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0A2EF0-A846-0F60-34CF-ECA4C90633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348" b="9649"/>
          <a:stretch>
            <a:fillRect/>
          </a:stretch>
        </p:blipFill>
        <p:spPr>
          <a:xfrm>
            <a:off x="3873500" y="3164402"/>
            <a:ext cx="1905266" cy="1374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687680"/>
            <a:ext cx="8520600" cy="38915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EF38F8-3D42-E215-B8CD-A95D8ADAD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828092"/>
              </p:ext>
            </p:extLst>
          </p:nvPr>
        </p:nvGraphicFramePr>
        <p:xfrm>
          <a:off x="311701" y="687681"/>
          <a:ext cx="8520599" cy="3575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0614">
                  <a:extLst>
                    <a:ext uri="{9D8B030D-6E8A-4147-A177-3AD203B41FA5}">
                      <a16:colId xmlns:a16="http://schemas.microsoft.com/office/drawing/2014/main" val="538419634"/>
                    </a:ext>
                  </a:extLst>
                </a:gridCol>
                <a:gridCol w="1257579">
                  <a:extLst>
                    <a:ext uri="{9D8B030D-6E8A-4147-A177-3AD203B41FA5}">
                      <a16:colId xmlns:a16="http://schemas.microsoft.com/office/drawing/2014/main" val="1559594776"/>
                    </a:ext>
                  </a:extLst>
                </a:gridCol>
                <a:gridCol w="4400186">
                  <a:extLst>
                    <a:ext uri="{9D8B030D-6E8A-4147-A177-3AD203B41FA5}">
                      <a16:colId xmlns:a16="http://schemas.microsoft.com/office/drawing/2014/main" val="1163736680"/>
                    </a:ext>
                  </a:extLst>
                </a:gridCol>
                <a:gridCol w="2022220">
                  <a:extLst>
                    <a:ext uri="{9D8B030D-6E8A-4147-A177-3AD203B41FA5}">
                      <a16:colId xmlns:a16="http://schemas.microsoft.com/office/drawing/2014/main" val="261296019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100">
                          <a:effectLst/>
                        </a:rPr>
                        <a:t>Інформація про тест-кейс</a:t>
                      </a:r>
                      <a:endParaRPr lang="uk-UA" sz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638584"/>
                  </a:ext>
                </a:extLst>
              </a:tr>
              <a:tr h="177217">
                <a:tc gridSpan="2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Ідентифікатор тесту: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uk-UA" sz="800" dirty="0">
                          <a:effectLst/>
                        </a:rPr>
                        <a:t>Тест-кейс №1</a:t>
                      </a:r>
                      <a:endParaRPr lang="uk-UA" dirty="0"/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97484"/>
                  </a:ext>
                </a:extLst>
              </a:tr>
              <a:tr h="150636">
                <a:tc gridSpan="2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Опис функції: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sz="800">
                          <a:effectLst/>
                        </a:rPr>
                        <a:t>Симуляція балістики, розкиду та диференціації уражень</a:t>
                      </a:r>
                      <a:endParaRPr lang="uk-UA"/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661567"/>
                  </a:ext>
                </a:extLst>
              </a:tr>
              <a:tr h="150636">
                <a:tc gridSpan="2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Власник тесту: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sz="800" dirty="0">
                          <a:effectLst/>
                        </a:rPr>
                        <a:t>Білоножко Антон Володимирович</a:t>
                      </a:r>
                      <a:endParaRPr lang="uk-UA" dirty="0"/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20657"/>
                  </a:ext>
                </a:extLst>
              </a:tr>
              <a:tr h="167171">
                <a:tc gridSpan="2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Дата створення: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uk-UA" sz="800">
                          <a:effectLst/>
                        </a:rPr>
                        <a:t>28.05.2026</a:t>
                      </a:r>
                      <a:endParaRPr lang="uk-UA"/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991408"/>
                  </a:ext>
                </a:extLst>
              </a:tr>
              <a:tr h="150636">
                <a:tc gridSpan="2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Мета тесту: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sz="800">
                          <a:effectLst/>
                        </a:rPr>
                        <a:t>Перевірити точність траєкторії кулі, відсутність тунелювання та коректність реєстрації шкоди</a:t>
                      </a:r>
                      <a:endParaRPr lang="uk-UA"/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88826"/>
                  </a:ext>
                </a:extLst>
              </a:tr>
              <a:tr h="150636">
                <a:tc gridSpan="2"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Передумова: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sz="800" dirty="0">
                          <a:effectLst/>
                        </a:rPr>
                        <a:t>Запущено сцену-полігон, ініціалізовано об'єкт гравця та тестову модель ворога</a:t>
                      </a:r>
                      <a:endParaRPr lang="uk-UA" dirty="0"/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23640"/>
                  </a:ext>
                </a:extLst>
              </a:tr>
              <a:tr h="150636">
                <a:tc gridSpan="4"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Передумова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55734"/>
                  </a:ext>
                </a:extLst>
              </a:tr>
              <a:tr h="167171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№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Опис випадку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Очікуваний результат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lvl="0"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Висновок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extLst>
                  <a:ext uri="{0D108BD9-81ED-4DB2-BD59-A6C34878D82A}">
                    <a16:rowId xmlns:a16="http://schemas.microsoft.com/office/drawing/2014/main" val="3317292464"/>
                  </a:ext>
                </a:extLst>
              </a:tr>
              <a:tr h="49317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1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Постріл у відкритий простір (без цілей та перешкод)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Снаряд BallisticBullet безперервно втрачає висоту під дією гравітації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lvl="0"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Пройдено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extLst>
                  <a:ext uri="{0D108BD9-81ED-4DB2-BD59-A6C34878D82A}">
                    <a16:rowId xmlns:a16="http://schemas.microsoft.com/office/drawing/2014/main" val="345911307"/>
                  </a:ext>
                </a:extLst>
              </a:tr>
              <a:tr h="49317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2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Стрільба з послідовним збільшенням відстані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Конус прицілювання відображає збільшення похибки</a:t>
                      </a:r>
                      <a:r>
                        <a:rPr lang="uk-UA" sz="800" dirty="0">
                          <a:effectLst/>
                        </a:rPr>
                        <a:t> попадання в силует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lvl="0"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Пройдено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extLst>
                  <a:ext uri="{0D108BD9-81ED-4DB2-BD59-A6C34878D82A}">
                    <a16:rowId xmlns:a16="http://schemas.microsoft.com/office/drawing/2014/main" val="676495846"/>
                  </a:ext>
                </a:extLst>
              </a:tr>
              <a:tr h="32190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3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Постріл у перший хітбокс (тулуб)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Фіксується влучання, Health отримує </a:t>
                      </a:r>
                      <a:r>
                        <a:rPr lang="uk-UA" sz="800" dirty="0">
                          <a:effectLst/>
                        </a:rPr>
                        <a:t>занижену</a:t>
                      </a:r>
                      <a:r>
                        <a:rPr lang="ru-RU" sz="800" dirty="0">
                          <a:effectLst/>
                        </a:rPr>
                        <a:t> шкоду,  </a:t>
                      </a:r>
                      <a:r>
                        <a:rPr lang="uk-UA" sz="800" dirty="0">
                          <a:effectLst/>
                        </a:rPr>
                        <a:t>хітбокс </a:t>
                      </a:r>
                      <a:r>
                        <a:rPr lang="ru-RU" sz="800" dirty="0">
                          <a:effectLst/>
                        </a:rPr>
                        <a:t>підсвічується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lvl="0"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Пройдено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extLst>
                  <a:ext uri="{0D108BD9-81ED-4DB2-BD59-A6C34878D82A}">
                    <a16:rowId xmlns:a16="http://schemas.microsoft.com/office/drawing/2014/main" val="1321815100"/>
                  </a:ext>
                </a:extLst>
              </a:tr>
              <a:tr h="49317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4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Постріл у другий хітбокс (голова та шия)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Фіксується влучання, Health отримує </a:t>
                      </a:r>
                      <a:r>
                        <a:rPr lang="uk-UA" sz="800" dirty="0">
                          <a:effectLst/>
                        </a:rPr>
                        <a:t>критичну</a:t>
                      </a:r>
                      <a:r>
                        <a:rPr lang="ru-RU" sz="800" dirty="0">
                          <a:effectLst/>
                        </a:rPr>
                        <a:t> шкоду,  </a:t>
                      </a:r>
                      <a:r>
                        <a:rPr lang="uk-UA" sz="800" dirty="0">
                          <a:effectLst/>
                        </a:rPr>
                        <a:t>хітбокс </a:t>
                      </a:r>
                      <a:r>
                        <a:rPr lang="ru-RU" sz="800" dirty="0">
                          <a:effectLst/>
                        </a:rPr>
                        <a:t>підсвічується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lvl="0"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Пройдено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extLst>
                  <a:ext uri="{0D108BD9-81ED-4DB2-BD59-A6C34878D82A}">
                    <a16:rowId xmlns:a16="http://schemas.microsoft.com/office/drawing/2014/main" val="4252238687"/>
                  </a:ext>
                </a:extLst>
              </a:tr>
              <a:tr h="32190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>
                          <a:effectLst/>
                        </a:rPr>
                        <a:t>5</a:t>
                      </a:r>
                      <a:endParaRPr lang="uk-UA" sz="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Постріл у третій хітбокс (кінцівки)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ru-RU" sz="800" dirty="0">
                          <a:effectLst/>
                        </a:rPr>
                        <a:t>Фіксується влучання, Health отримує </a:t>
                      </a:r>
                      <a:r>
                        <a:rPr lang="uk-UA" sz="800" dirty="0">
                          <a:effectLst/>
                        </a:rPr>
                        <a:t>підвищену</a:t>
                      </a:r>
                      <a:r>
                        <a:rPr lang="ru-RU" sz="800" dirty="0">
                          <a:effectLst/>
                        </a:rPr>
                        <a:t> шкоду,  </a:t>
                      </a:r>
                      <a:r>
                        <a:rPr lang="uk-UA" sz="800" dirty="0">
                          <a:effectLst/>
                        </a:rPr>
                        <a:t>хітбокс </a:t>
                      </a:r>
                      <a:r>
                        <a:rPr lang="ru-RU" sz="800" dirty="0">
                          <a:effectLst/>
                        </a:rPr>
                        <a:t>підсвічується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tc>
                  <a:txBody>
                    <a:bodyPr/>
                    <a:lstStyle/>
                    <a:p>
                      <a:pPr lvl="0" indent="450215" algn="ctr">
                        <a:lnSpc>
                          <a:spcPct val="150000"/>
                        </a:lnSpc>
                        <a:buNone/>
                        <a:tabLst>
                          <a:tab pos="450215" algn="l"/>
                        </a:tabLst>
                      </a:pPr>
                      <a:r>
                        <a:rPr lang="uk-UA" sz="800" dirty="0">
                          <a:effectLst/>
                        </a:rPr>
                        <a:t>Пройдено</a:t>
                      </a:r>
                      <a:endParaRPr lang="uk-UA" sz="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46" marR="6946" marT="0" marB="0" anchor="ctr"/>
                </a:tc>
                <a:extLst>
                  <a:ext uri="{0D108BD9-81ED-4DB2-BD59-A6C34878D82A}">
                    <a16:rowId xmlns:a16="http://schemas.microsoft.com/office/drawing/2014/main" val="425895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796013"/>
            <a:ext cx="6142440" cy="3783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uk-UA" dirty="0"/>
              <a:t>Створено стабільну демо-версію з робочою параболічною балістикою, з усуненою проблемою тунелювання та анатомічними хітбоксами;</a:t>
            </a:r>
          </a:p>
          <a:p>
            <a:pPr marL="285750" indent="-285750">
              <a:lnSpc>
                <a:spcPct val="150000"/>
              </a:lnSpc>
            </a:pPr>
            <a:r>
              <a:rPr lang="uk-UA" dirty="0"/>
              <a:t>Готовий програмний каркас для швидкої розробки та тестування ізометричних тактичних шутерів;</a:t>
            </a:r>
          </a:p>
          <a:p>
            <a:pPr marL="285750" indent="-285750">
              <a:lnSpc>
                <a:spcPct val="150000"/>
              </a:lnSpc>
            </a:pPr>
            <a:r>
              <a:rPr lang="uk-UA" dirty="0"/>
              <a:t>Можливе доповнення та покращення базових механік;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100</TotalTime>
  <Words>678</Words>
  <Application>Microsoft Office PowerPoint</Application>
  <PresentationFormat>On-screen Show (16:9)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Open Sans</vt:lpstr>
      <vt:lpstr>Times New Roman</vt:lpstr>
      <vt:lpstr>Arial</vt:lpstr>
      <vt:lpstr>Economica</vt:lpstr>
      <vt:lpstr>Шаблон презентації кваліфікаційної роботи магістрів</vt:lpstr>
      <vt:lpstr>Комплексний курсовий проєкт на тему: Ігрове програмне забезпечення в жанрі Shooter на рушії Unity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Антон</dc:creator>
  <cp:lastModifiedBy>Антон</cp:lastModifiedBy>
  <cp:revision>96</cp:revision>
  <dcterms:created xsi:type="dcterms:W3CDTF">2026-06-03T14:33:53Z</dcterms:created>
  <dcterms:modified xsi:type="dcterms:W3CDTF">2026-06-03T16:14:49Z</dcterms:modified>
</cp:coreProperties>
</file>